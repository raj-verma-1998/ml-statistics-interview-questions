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AA"/>
                </a:solidFill>
              </a:rPr>
              <a:t>AlmaBetter  ·  Woolf University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End Course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Summative Assignment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A020"/>
                </a:solidFill>
              </a:rPr>
              <a:t>Video Presentation — 5 Selected Questions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E5FAC">
              <a:alpha val="70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Vectors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3429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E5FAC">
              <a:alpha val="70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Scalars vs Vectors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3429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E5FAC">
              <a:alpha val="70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Probability Theory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3429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E5FAC">
              <a:alpha val="70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Central Tendency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342900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2E5FAC">
              <a:alpha val="70000"/>
            </a:srgbClr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Correlation vs Causation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Raj Verma  |  Student ID: 4295154436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09728"/>
            <a:ext cx="731520" cy="402336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97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a Vector in Mathematics?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Raj Verma  |  4295154436  |  AlmaBetter · Woolf University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📌  A vector is a mathematical object that has both SIZE (magnitude) and DIRECTION.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64208"/>
            <a:ext cx="265176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🚶 Everyday Example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075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"Walk 5 steps NORTH"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 5 steps = 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 North = direction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63240" y="1664208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63240" y="1664208"/>
            <a:ext cx="2651760" cy="5486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C"/>
                </a:solidFill>
              </a:rPr>
              <a:t>🏹 In Mathematics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075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Written as (3, 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 3 units 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→ 4 units 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1664208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1664208"/>
            <a:ext cx="265176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💻 In Machine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207568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Student = (age=20,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marks=85, attend=90)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Each data point!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8595360" cy="54864"/>
          </a:xfrm>
          <a:prstGeom prst="rect">
            <a:avLst/>
          </a:prstGeom>
          <a:solidFill>
            <a:srgbClr val="D0DBF0"/>
          </a:solidFill>
          <a:ln w="12700">
            <a:solidFill>
              <a:srgbClr val="D0DB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SCALAR  vs  VECTOR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114800" cy="713232"/>
          </a:xfrm>
          <a:prstGeom prst="rect">
            <a:avLst/>
          </a:prstGeom>
          <a:solidFill>
            <a:srgbClr val="FFF3E0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11880"/>
            <a:ext cx="4114800" cy="713232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Speed: 60 km/h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 Just a number (Scalar)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4114800" cy="713232"/>
          </a:xfrm>
          <a:prstGeom prst="rect">
            <a:avLst/>
          </a:prstGeom>
          <a:solidFill>
            <a:srgbClr val="E8F5E9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11880"/>
            <a:ext cx="4114800" cy="713232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Velocity: 60 km/h going NORTH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→ Number + Direction (Vector)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09728"/>
            <a:ext cx="731520" cy="402336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97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Q2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is a Vector Different from a Scalar?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Raj Verma  |  4295154436  |  AlmaBetter · Woolf University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402336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77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 SCALAR  — Size Only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1353312"/>
            <a:ext cx="4023360" cy="548640"/>
          </a:xfrm>
          <a:prstGeom prst="rect">
            <a:avLst/>
          </a:prstGeom>
          <a:solidFill>
            <a:srgbClr val="FFFBF0"/>
          </a:solidFill>
          <a:ln w="6350">
            <a:solidFill>
              <a:srgbClr val="F0E0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533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🌡️  Temperature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353312"/>
            <a:ext cx="1463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37°C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975104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751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⚖️  Mass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1975104"/>
            <a:ext cx="1463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70 kg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4023360" cy="548640"/>
          </a:xfrm>
          <a:prstGeom prst="rect">
            <a:avLst/>
          </a:prstGeom>
          <a:solidFill>
            <a:srgbClr val="FFFBF0"/>
          </a:solidFill>
          <a:ln w="6350">
            <a:solidFill>
              <a:srgbClr val="F0E0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968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💰  Price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97480" y="2596896"/>
            <a:ext cx="1463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₹299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0E0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18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⏱️ 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97480" y="3218688"/>
            <a:ext cx="1463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3 seconds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023360" cy="548640"/>
          </a:xfrm>
          <a:prstGeom prst="rect">
            <a:avLst/>
          </a:prstGeom>
          <a:solidFill>
            <a:srgbClr val="FFFBF0"/>
          </a:solidFill>
          <a:ln w="6350">
            <a:solidFill>
              <a:srgbClr val="F0E0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🏃  Speed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60 km/h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777240"/>
            <a:ext cx="402336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777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 VECTOR  — Size + Direction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6320" y="1353312"/>
            <a:ext cx="402336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C0CC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353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💨  Velocity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1353312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C"/>
                </a:solidFill>
              </a:rPr>
              <a:t>60 km/h NORTH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1975104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9751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💪  Force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78040" y="1975104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C"/>
                </a:solidFill>
              </a:rPr>
              <a:t>10 N Downward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596896"/>
            <a:ext cx="402336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C0C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596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📍  Displacement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78040" y="2596896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C"/>
                </a:solidFill>
              </a:rPr>
              <a:t>5 m to East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21868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0C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2186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🚀  Acceleration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78040" y="3218688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C"/>
                </a:solidFill>
              </a:rPr>
              <a:t>9.8 m/s² down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840480"/>
            <a:ext cx="4023360" cy="548640"/>
          </a:xfrm>
          <a:prstGeom prst="rect">
            <a:avLst/>
          </a:prstGeom>
          <a:solidFill>
            <a:srgbClr val="EEF3FB"/>
          </a:solidFill>
          <a:ln w="6350">
            <a:solidFill>
              <a:srgbClr val="C0CC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📊  Feature Vector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78040" y="3840480"/>
            <a:ext cx="1554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C"/>
                </a:solidFill>
              </a:rPr>
              <a:t>(20, 85, 90)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777240"/>
            <a:ext cx="0" cy="384048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74320" y="4462272"/>
            <a:ext cx="8595360" cy="292608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4622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020"/>
                </a:solidFill>
              </a:rPr>
              <a:t>💡  Quick Trick:  Just a number = Scalar  |  Number + Direction = Vector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09728"/>
            <a:ext cx="731520" cy="402336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97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Q15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Probability Theory?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Raj Verma  |  4295154436  |  AlmaBetter · Woolf University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📌  Probability = How likely is something to happen?  (A number from 0 to 1)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27632"/>
            <a:ext cx="1572768" cy="502920"/>
          </a:xfrm>
          <a:prstGeom prst="rect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Impossible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21408" y="1627632"/>
            <a:ext cx="1572768" cy="502920"/>
          </a:xfrm>
          <a:prstGeom prst="rect">
            <a:avLst/>
          </a:prstGeom>
          <a:solidFill>
            <a:srgbClr val="E67E22">
              <a:alpha val="7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0.25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Unlikely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85616" y="1627632"/>
            <a:ext cx="1572768" cy="502920"/>
          </a:xfrm>
          <a:prstGeom prst="rect">
            <a:avLst/>
          </a:prstGeom>
          <a:solidFill>
            <a:srgbClr val="F1C40F">
              <a:alpha val="70000"/>
            </a:srgbClr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0.5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50-50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9824" y="1627632"/>
            <a:ext cx="1572768" cy="502920"/>
          </a:xfrm>
          <a:prstGeom prst="rect">
            <a:avLst/>
          </a:prstGeom>
          <a:solidFill>
            <a:srgbClr val="27AE60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0.75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Likely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14032" y="1627632"/>
            <a:ext cx="1572768" cy="502920"/>
          </a:xfrm>
          <a:prstGeom prst="rect">
            <a:avLst/>
          </a:prstGeom>
          <a:solidFill>
            <a:srgbClr val="1A7A4A">
              <a:alpha val="70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162763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Real Life Examples: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26700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70048"/>
            <a:ext cx="2011680" cy="54864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24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🎲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74320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FAC"/>
                </a:solidFill>
              </a:rPr>
              <a:t>Roll a Dice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3483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P(getting 4)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= 1/6 ≈ 0.17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26700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50592" y="2670048"/>
            <a:ext cx="20116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2724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🪙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450592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Flip a Coin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50592" y="3483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P(Heads)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= 1/2 = 0.50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26864" y="26700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26864" y="2670048"/>
            <a:ext cx="201168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2724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🌧️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626864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Rain Tomorrow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26864" y="3483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Weather forecast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= 0.70 (70%)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03136" y="267004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03136" y="2670048"/>
            <a:ext cx="20116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03136" y="2724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803136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Spam Email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03136" y="3483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ML model says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= 0.92 (spam!)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224528"/>
            <a:ext cx="8595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2245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</a:rPr>
              <a:t>📐  Formula:  Probability = Favourable Outcomes ÷ Total Possible Outcomes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09728"/>
            <a:ext cx="731520" cy="402336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97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Q23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Measures of Central Tendency (Mean, Median, Mode)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Raj Verma  |  4295154436  |  AlmaBetter · Woolf University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</a:rPr>
              <a:t>📊  Example Dataset — Marks of 7 Students:   45,  50,  55,  60,  60,  75,  95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417320"/>
            <a:ext cx="2724912" cy="65836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173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➕  MEAN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Average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1214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C"/>
                </a:solidFill>
              </a:rPr>
              <a:t>How to calculate: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(45+50+55+60+60+75+95) ÷ 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= 440 ÷ 7 = 62.9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2542032" cy="347472"/>
          </a:xfrm>
          <a:prstGeom prst="rect">
            <a:avLst/>
          </a:prstGeom>
          <a:solidFill>
            <a:srgbClr val="2E5FAC">
              <a:alpha val="12000"/>
            </a:srgbClr>
          </a:solidFill>
          <a:ln w="6350">
            <a:solidFill>
              <a:srgbClr val="2E5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81528"/>
            <a:ext cx="254203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C"/>
                </a:solidFill>
              </a:rPr>
              <a:t>⚠️ Pulled up by the outlier 95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Use when: data is balanced, no extremes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72968" y="141732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417320"/>
            <a:ext cx="2724912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14173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⬌  MEDIAN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72968" y="17830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Middle Value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21214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How to calculate: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237744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Sorted: 45,50,55,[60],60,75,95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Middle value (4th) = 60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3081528"/>
            <a:ext cx="2542032" cy="347472"/>
          </a:xfrm>
          <a:prstGeom prst="rect">
            <a:avLst/>
          </a:prstGeom>
          <a:solidFill>
            <a:srgbClr val="1A7A4A">
              <a:alpha val="12000"/>
            </a:srgbClr>
          </a:solidFill>
          <a:ln w="635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81528"/>
            <a:ext cx="254203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✅ Not affected by outliers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347472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Use when: data is skewed (incomes, prices)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1417320"/>
            <a:ext cx="27249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1417320"/>
            <a:ext cx="2724912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141732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🔁  MODE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71616" y="17830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Most Common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08776" y="212140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How to calculate: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08776" y="237744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60 appears TWICE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All others appear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Mode = 60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63056" y="3081528"/>
            <a:ext cx="2542032" cy="347472"/>
          </a:xfrm>
          <a:prstGeom prst="rect">
            <a:avLst/>
          </a:prstGeom>
          <a:solidFill>
            <a:srgbClr val="E8A020">
              <a:alpha val="12000"/>
            </a:srgbClr>
          </a:solidFill>
          <a:ln w="635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3081528"/>
            <a:ext cx="254203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</a:rPr>
              <a:t>✅ Works for categories too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8776" y="347472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Use when: finding most popular value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</a:rPr>
              <a:t>💡  Symmetric data → Mean = Median = Mode  |  Skewed data → use Median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09728"/>
            <a:ext cx="731520" cy="402336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0972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Q41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Difference Between Correlation and Causation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Raj Verma  |  4295154436  |  AlmaBetter · Woolf University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4023360" cy="7315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📈  CORRELATION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1152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Two things happen TOGETHER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804672"/>
            <a:ext cx="4023360" cy="7315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🎯  CAUSATION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46320" y="115214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One thing CAUSES the other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16642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Famous Examples of Correlation WITHOUT Causation: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27249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05740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🍦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26517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Ice Cream &amp; Drowning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Both increase in summer.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Does ice cream cause drowning? NO!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Real cause: Hot weather causes BOTH.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2542032" cy="32004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0"/>
            <a:ext cx="25420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⚠️  Hidden variable = Hot Weather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82112" y="2057400"/>
            <a:ext cx="27249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82112" y="205740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73552" y="26517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Nicolas Cage films &amp; Pool Deaths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73552" y="297180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Strong correlation found in data!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Clearly coincidental.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This is called a SPURIOUS correlation.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3657600"/>
            <a:ext cx="2542032" cy="32004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657600"/>
            <a:ext cx="25420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⚠️  No real connection — just coincidence!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9904" y="2057400"/>
            <a:ext cx="272491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89904" y="205740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👟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81344" y="265176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Shoe Size &amp; Reading 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81344" y="297180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Bigger shoes → better reading in children.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Cause: AGE — older children have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both bigger feet AND can read better.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81344" y="3657600"/>
            <a:ext cx="2542032" cy="32004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3657600"/>
            <a:ext cx="254203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⚠️  Hidden variable = Age of child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859536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11480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✅  To PROVE Causation: Run a Randomised Controlled Experiment — randomly assign people to groups!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 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020"/>
                </a:solidFill>
              </a:rPr>
              <a:t>Questions Covered in This Presentation: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AAAAA"/>
                </a:solidFill>
              </a:rPr>
              <a:t>Q1 — What is a Vector in Mathematics?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AAAAA"/>
                </a:solidFill>
              </a:rPr>
              <a:t>Q2 — How is a Vector Different from a Scalar?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AAAAA"/>
                </a:solidFill>
              </a:rPr>
              <a:t>Q15 — What is Probability Theory?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AAAAA"/>
                </a:solidFill>
              </a:rPr>
              <a:t>Q23 — Measures of Central Tendency (Mean, Median, Mode)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AAAAA"/>
                </a:solidFill>
              </a:rPr>
              <a:t>Q41 — Difference Between Correlation and Causation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Raj Verma  |  4295154436  |  AlmaBetter · Woolf University  |  March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 Course Summative Assignment - 5 Questions</dc:title>
  <dc:subject>PptxGenJS Presentation</dc:subject>
  <dc:creator>Raj Verma</dc:creator>
  <cp:lastModifiedBy>Raj Verma</cp:lastModifiedBy>
  <cp:revision>1</cp:revision>
  <dcterms:created xsi:type="dcterms:W3CDTF">2026-03-13T07:49:55Z</dcterms:created>
  <dcterms:modified xsi:type="dcterms:W3CDTF">2026-03-13T07:49:55Z</dcterms:modified>
</cp:coreProperties>
</file>